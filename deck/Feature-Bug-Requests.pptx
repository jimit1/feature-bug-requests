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Situation and complication. Dozens of calls and cases a week hold what the market wants. What reaches product today is word of mouth with no source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Calls and cases collapse into a ranked list. Any line opens to the customer quote and the exact moment it was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 One nightly job: readers write verified claims, the editor files claims into themes. themes/ is the single source; the digest UI and the ask agent both read it. Commits are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Two cheap reader agents, one per source, return structured records. The frontier editor agent reads existing themes first, then files each new claim: append or open, with one line of why. All nightly.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ask agent answers only from the library. It never queries Gong or Salesforce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questions from the panel, answered in the build. Where the context lives between runs, where the agents run and when Bedrock is the right swap, what an agent can see and do and how it is audited, the PII scrub before any reader, the golden set against drift, the library as plain files, and the cost on every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Built only what the brief asked for. A wider scrub, a wider golden set, live connectors and an approve gate are drawn on the system; a database, sign-in with memory, status per theme, weekly notes, more sources, per-account and trend views are listed for later. None of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stack, the model tiers, the size of the mock data, the checks in code including that every agent answers only through a schema, the hosting, and the first week of real numbers. Every one of these was a choice; the point is that nothing here is accidental.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463040"/>
            <a:ext cx="8046720" cy="914400"/>
          </a:xfrm>
          <a:prstGeom prst="rect">
            <a:avLst/>
          </a:prstGeom>
          <a:noFill/>
          <a:ln/>
        </p:spPr>
        <p:txBody>
          <a:bodyPr wrap="square" lIns="0" tIns="0" rIns="0" bIns="0" rtlCol="0" anchor="ctr"/>
          <a:lstStyle/>
          <a:p>
            <a:pPr indent="0" marL="0">
              <a:buNone/>
            </a:pPr>
            <a:r>
              <a:rPr lang="en-US" sz="4400" dirty="0">
                <a:solidFill>
                  <a:srgbClr val="2C2C2A"/>
                </a:solidFill>
                <a:latin typeface="Arial" pitchFamily="34" charset="0"/>
                <a:ea typeface="Arial" pitchFamily="34" charset="-122"/>
                <a:cs typeface="Arial" pitchFamily="34" charset="-120"/>
              </a:rPr>
              <a:t>Feature / Bug Requests</a:t>
            </a:r>
            <a:endParaRPr lang="en-US" sz="4400" dirty="0"/>
          </a:p>
        </p:txBody>
      </p:sp>
      <p:sp>
        <p:nvSpPr>
          <p:cNvPr id="3" name="Text 1"/>
          <p:cNvSpPr txBox="1"/>
          <p:nvPr/>
        </p:nvSpPr>
        <p:spPr>
          <a:xfrm>
            <a:off x="548640" y="2423160"/>
            <a:ext cx="8046720" cy="457200"/>
          </a:xfrm>
          <a:prstGeom prst="rect">
            <a:avLst/>
          </a:prstGeom>
          <a:noFill/>
          <a:ln/>
        </p:spPr>
        <p:txBody>
          <a:bodyPr wrap="square" lIns="0" tIns="0" rIns="0" bIns="0" rtlCol="0" anchor="ctr"/>
          <a:lstStyle/>
          <a:p>
            <a:pPr indent="0" marL="0">
              <a:buNone/>
            </a:pPr>
            <a:r>
              <a:rPr lang="en-US" sz="2000" dirty="0">
                <a:solidFill>
                  <a:srgbClr val="5F5E5A"/>
                </a:solidFill>
                <a:latin typeface="Arial" pitchFamily="34" charset="0"/>
                <a:ea typeface="Arial" pitchFamily="34" charset="-122"/>
                <a:cs typeface="Arial" pitchFamily="34" charset="-120"/>
              </a:rPr>
              <a:t>A prioritized digest for the product team</a:t>
            </a:r>
            <a:endParaRPr lang="en-US" sz="2000" dirty="0"/>
          </a:p>
        </p:txBody>
      </p:sp>
      <p:sp>
        <p:nvSpPr>
          <p:cNvPr id="4" name="Text 2"/>
          <p:cNvSpPr txBox="1"/>
          <p:nvPr/>
        </p:nvSpPr>
        <p:spPr>
          <a:xfrm>
            <a:off x="548640" y="4526280"/>
            <a:ext cx="5486400" cy="320040"/>
          </a:xfrm>
          <a:prstGeom prst="rect">
            <a:avLst/>
          </a:prstGeom>
          <a:noFill/>
          <a:ln/>
        </p:spPr>
        <p:txBody>
          <a:bodyPr wrap="square" lIns="0" tIns="0" rIns="0" bIns="0" rtlCol="0" anchor="ctr"/>
          <a:lstStyle/>
          <a:p>
            <a:pPr indent="0" marL="0">
              <a:buNone/>
            </a:pPr>
            <a:r>
              <a:rPr lang="en-US" sz="1100" dirty="0">
                <a:solidFill>
                  <a:srgbClr val="888780"/>
                </a:solidFill>
                <a:latin typeface="Arial" pitchFamily="34" charset="0"/>
                <a:ea typeface="Arial" pitchFamily="34" charset="-122"/>
                <a:cs typeface="Arial" pitchFamily="34" charset="-120"/>
              </a:rPr>
              <a:t>Jim Mehta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2</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Product hears a fraction of what customers and prospects ask for</a:t>
            </a:r>
            <a:endParaRPr lang="en-US" sz="2200" dirty="0"/>
          </a:p>
        </p:txBody>
      </p:sp>
      <p:pic>
        <p:nvPicPr>
          <p:cNvPr id="4" name="Image 0" descr="png/body/slide-2.png">    </p:cNvPr>
          <p:cNvPicPr>
            <a:picLocks noChangeAspect="1"/>
          </p:cNvPicPr>
          <p:nvPr/>
        </p:nvPicPr>
        <p:blipFill>
          <a:blip r:embed="rId1"/>
          <a:stretch>
            <a:fillRect/>
          </a:stretch>
        </p:blipFill>
        <p:spPr>
          <a:xfrm>
            <a:off x="548640" y="1417320"/>
            <a:ext cx="8046720" cy="293833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3</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Every request lands in one ranked list, with the customer's own words attached</a:t>
            </a:r>
            <a:endParaRPr lang="en-US" sz="2200" dirty="0"/>
          </a:p>
        </p:txBody>
      </p:sp>
      <p:pic>
        <p:nvPicPr>
          <p:cNvPr id="4" name="Image 0" descr="png/body/slide-3.png">    </p:cNvPr>
          <p:cNvPicPr>
            <a:picLocks noChangeAspect="1"/>
          </p:cNvPicPr>
          <p:nvPr/>
        </p:nvPicPr>
        <p:blipFill>
          <a:blip r:embed="rId1"/>
          <a:stretch>
            <a:fillRect/>
          </a:stretch>
        </p:blipFill>
        <p:spPr>
          <a:xfrm>
            <a:off x="548640" y="1417320"/>
            <a:ext cx="8046720" cy="258165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4</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The whole system: two sources, three agents, one git library, one product team</a:t>
            </a:r>
            <a:endParaRPr lang="en-US" sz="2200" dirty="0"/>
          </a:p>
        </p:txBody>
      </p:sp>
      <p:pic>
        <p:nvPicPr>
          <p:cNvPr id="4" name="Image 0" descr="png/body/slide-4.png">    </p:cNvPr>
          <p:cNvPicPr>
            <a:picLocks noChangeAspect="1"/>
          </p:cNvPicPr>
          <p:nvPr/>
        </p:nvPicPr>
        <p:blipFill>
          <a:blip r:embed="rId1"/>
          <a:stretch>
            <a:fillRect/>
          </a:stretch>
        </p:blipFill>
        <p:spPr>
          <a:xfrm>
            <a:off x="548640" y="1417320"/>
            <a:ext cx="8046720" cy="304688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5</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Reader agents turn conversations into records; the editor agent sorts records into themes</a:t>
            </a:r>
            <a:endParaRPr lang="en-US" sz="2200" dirty="0"/>
          </a:p>
        </p:txBody>
      </p:sp>
      <p:pic>
        <p:nvPicPr>
          <p:cNvPr id="4" name="Image 0" descr="png/body/slide-5.png">    </p:cNvPr>
          <p:cNvPicPr>
            <a:picLocks noChangeAspect="1"/>
          </p:cNvPicPr>
          <p:nvPr/>
        </p:nvPicPr>
        <p:blipFill>
          <a:blip r:embed="rId1"/>
          <a:stretch>
            <a:fillRect/>
          </a:stretch>
        </p:blipFill>
        <p:spPr>
          <a:xfrm>
            <a:off x="548640" y="1417320"/>
            <a:ext cx="8046720" cy="281970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6</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Ask why a theme matters; the answer comes from the library, with the customer's words</a:t>
            </a:r>
            <a:endParaRPr lang="en-US" sz="2200" dirty="0"/>
          </a:p>
        </p:txBody>
      </p:sp>
      <p:pic>
        <p:nvPicPr>
          <p:cNvPr id="4" name="Image 0" descr="png/body/slide-6.png">    </p:cNvPr>
          <p:cNvPicPr>
            <a:picLocks noChangeAspect="1"/>
          </p:cNvPicPr>
          <p:nvPr/>
        </p:nvPicPr>
        <p:blipFill>
          <a:blip r:embed="rId1"/>
          <a:stretch>
            <a:fillRect/>
          </a:stretch>
        </p:blipFill>
        <p:spPr>
          <a:xfrm>
            <a:off x="548640" y="1417320"/>
            <a:ext cx="8046720" cy="282288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7</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The questions from our conversation, and where each answer lives</a:t>
            </a:r>
            <a:endParaRPr lang="en-US" sz="2200" dirty="0"/>
          </a:p>
        </p:txBody>
      </p:sp>
      <p:pic>
        <p:nvPicPr>
          <p:cNvPr id="4" name="Image 0" descr="png/body/slide-7.png">    </p:cNvPr>
          <p:cNvPicPr>
            <a:picLocks noChangeAspect="1"/>
          </p:cNvPicPr>
          <p:nvPr/>
        </p:nvPicPr>
        <p:blipFill>
          <a:blip r:embed="rId1"/>
          <a:stretch>
            <a:fillRect/>
          </a:stretch>
        </p:blipFill>
        <p:spPr>
          <a:xfrm>
            <a:off x="548640" y="1417320"/>
            <a:ext cx="4416158" cy="32918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8</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Built to the brief; the next steps are designed, not built</a:t>
            </a:r>
            <a:endParaRPr lang="en-US" sz="2200" dirty="0"/>
          </a:p>
        </p:txBody>
      </p:sp>
      <p:pic>
        <p:nvPicPr>
          <p:cNvPr id="4" name="Image 0" descr="png/body/slide-8.png">    </p:cNvPr>
          <p:cNvPicPr>
            <a:picLocks noChangeAspect="1"/>
          </p:cNvPicPr>
          <p:nvPr/>
        </p:nvPicPr>
        <p:blipFill>
          <a:blip r:embed="rId1"/>
          <a:stretch>
            <a:fillRect/>
          </a:stretch>
        </p:blipFill>
        <p:spPr>
          <a:xfrm>
            <a:off x="548640" y="1417320"/>
            <a:ext cx="7085575" cy="32918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9</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Appendix: the decisions behind it</a:t>
            </a:r>
            <a:endParaRPr lang="en-US" sz="2200" dirty="0"/>
          </a:p>
        </p:txBody>
      </p:sp>
      <p:pic>
        <p:nvPicPr>
          <p:cNvPr id="4" name="Image 0" descr="png/body/slide-9.png">    </p:cNvPr>
          <p:cNvPicPr>
            <a:picLocks noChangeAspect="1"/>
          </p:cNvPicPr>
          <p:nvPr/>
        </p:nvPicPr>
        <p:blipFill>
          <a:blip r:embed="rId1"/>
          <a:stretch>
            <a:fillRect/>
          </a:stretch>
        </p:blipFill>
        <p:spPr>
          <a:xfrm>
            <a:off x="548640" y="1417320"/>
            <a:ext cx="6762354" cy="3291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Feature / Bug Requests</dc:title>
  <dc:subject>PptxGenJS Presentation</dc:subject>
  <dc:creator>Jim Mehta</dc:creator>
  <cp:lastModifiedBy>Jim Mehta</cp:lastModifiedBy>
  <cp:revision>1</cp:revision>
  <dcterms:created xsi:type="dcterms:W3CDTF">2026-09-15T22:18:08Z</dcterms:created>
  <dcterms:modified xsi:type="dcterms:W3CDTF">2026-09-15T22:18:08Z</dcterms:modified>
</cp:coreProperties>
</file>